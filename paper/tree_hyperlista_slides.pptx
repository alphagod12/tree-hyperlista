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A478A"/>
                </a:solidFill>
                <a:latin typeface="Calibri"/>
              </a:defRPr>
            </a:pPr>
            <a:r>
              <a:t>Tree-HyperLISTA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22222"/>
                </a:solidFill>
                <a:latin typeface="Calibri"/>
              </a:defRPr>
            </a:pPr>
            <a:r>
              <a:t>Ultra-Lightweight Deep Unfolding for Tree-Sparse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66"/>
                </a:solidFill>
                <a:latin typeface="Calibri"/>
              </a:defRPr>
            </a:pPr>
            <a:r>
              <a:t>Shresth Verma    Aditya Agrawal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Department of CSE, IIT Bombay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478A"/>
                </a:solidFill>
                <a:latin typeface="Calibri"/>
              </a:defRPr>
            </a:pPr>
            <a:r>
              <a:t>Why Tree-Sparse Recovery?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Sparse recovery: reconstruct x from y = Ax + e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Tree-structured sparsity arises naturally in: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   • Wavelet decompositions of images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   • Hierarchical signal representations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   • Multi-resolution analysis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Key constraint: if a child is active,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its parent must also be 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Gap in existing methods: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Classical (ISTA, FISTA): no learning → slow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LISTA (1.56M params): ignores tree structure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HyperLISTA (3 params): elementwise only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→ No method combines tree structure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   with lightweight deep unfolding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478A"/>
                </a:solidFill>
                <a:latin typeface="Calibri"/>
              </a:defRPr>
            </a:pPr>
            <a:r>
              <a:t>Tree-HyperLISTA: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Only 3 learned hyperparameters (c1, c2, c3)</a:t>
            </a: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Each unfolded layer performs:</a:t>
            </a: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  1. Momentum step:  z = x + β(x − x_prev)</a:t>
            </a: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  2. Gradient step:  u = z + Wᵀ(y − Az)</a:t>
            </a: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  3. Tree scoring:   si = |ui| + ρ Σ s_child</a:t>
            </a: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  4. Support select: S = TopKTree(s, K)</a:t>
            </a: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  5. Tree threshold: soft-thresh within S</a:t>
            </a: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Per-layer β, θ, K derived from (c1,c2,c3)</a:t>
            </a: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via adaptive formulas — NOT learned per-layer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Three support selection modes:</a:t>
            </a: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M1 — Hard tree projection:</a:t>
            </a: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    greedy top-K with ancestor closure</a:t>
            </a: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M2 — Threshold + closure:</a:t>
            </a: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    threshold then enforce tree consistency</a:t>
            </a: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M3 — Hybrid (recommended):</a:t>
            </a: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    top-K tree projection + soft threshold</a:t>
            </a: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    → best NMSE with lowest variance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478A"/>
                </a:solidFill>
                <a:latin typeface="Calibri"/>
              </a:defRPr>
            </a:pPr>
            <a:r>
              <a:t>Key Innovation: Tree-Aware Proximal Operator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Standard (LISTA/HyperLISTA):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   xi = sign(ui) max(|ui| − θ, 0)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   → treats each coefficient independently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   → ignores tree structure completely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Tree-HyperLISTA: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   1. Score each node using subtree info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   2. Select tree-consistent support S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   3. Threshold only within S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   → exploits parent-child dependencies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   → O(n) via bottom-up aggregation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What makes it "ultra-lightweight":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• Same 3 global hyperparameters as HyperLISTA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• W matrix is precomputed (not learned)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• Tree topology is fixed (not learned)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• ρ decay is fixed at 0.5 (not learned)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The ONLY change vs HyperLISTA is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replacing soft-threshold with tree operator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→ Structure in the operator, not parameters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7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Experimental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478A"/>
                </a:solidFill>
                <a:latin typeface="Calibri"/>
              </a:defRPr>
            </a:pPr>
            <a:r>
              <a:t>Core Results: Synthetic Tree-Sparse Recovery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n=255, m=127, K=16 layers, 30 dB SNR, 5 seeds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NMSE (dB)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#Params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Tree-ISTA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−06.00 ± 0.02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0.759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0.734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Tree-FISTA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−08.34 ± 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LISTA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−13.18 ± 0.08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0.255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0.997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1.56M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HyperLISTA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−15.91 ± 6.91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D8D48"/>
                          </a:solidFill>
                        </a:defRPr>
                      </a:pPr>
                      <a:r>
                        <a:t>TH-Hard (M1)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D8D48"/>
                          </a:solidFill>
                        </a:defRPr>
                      </a:pPr>
                      <a:r>
                        <a:t>−28.80 ± 0.11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D8D48"/>
                          </a:solidFill>
                        </a:defRPr>
                      </a:pPr>
                      <a:r>
                        <a:t>0.740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D8D48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D8D4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D8D48"/>
                          </a:solidFill>
                        </a:defRPr>
                      </a:pPr>
                      <a:r>
                        <a:t>TH-Hybrid (M3)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D8D48"/>
                          </a:solidFill>
                        </a:defRPr>
                      </a:pPr>
                      <a:r>
                        <a:t>−28.66 ± 0.10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D8D48"/>
                          </a:solidFill>
                        </a:defRPr>
                      </a:pPr>
                      <a:r>
                        <a:t>0.663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D8D48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D8D4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478A"/>
                </a:solidFill>
                <a:latin typeface="Calibri"/>
              </a:defRPr>
            </a:pPr>
            <a:r>
              <a:t>TH-Hybrid: +12.8 dB over HyperLISTA (same 3 params)  |  +15.5 dB over LISTA (1.56M params)  |  Perfect recall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478A"/>
                </a:solidFill>
                <a:latin typeface="Calibri"/>
              </a:defRPr>
            </a:pPr>
            <a:r>
              <a:t>Convergence &amp; Support Recovery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ee_fig1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822877"/>
          </a:xfrm>
          <a:prstGeom prst="rect">
            <a:avLst/>
          </a:prstGeom>
        </p:spPr>
      </p:pic>
      <p:pic>
        <p:nvPicPr>
          <p:cNvPr id="5" name="Picture 4" descr="tree_fig2_sup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20279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Tree-HyperLISTA converges to −28.66 dB in 16 layers with perfect support recall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478A"/>
                </a:solidFill>
                <a:latin typeface="Calibri"/>
              </a:defRPr>
            </a:pPr>
            <a:r>
              <a:t>Robustness: Mismatch Experiments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ee_fig3_snr_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669280" cy="4108324"/>
          </a:xfrm>
          <a:prstGeom prst="rect">
            <a:avLst/>
          </a:prstGeom>
        </p:spPr>
      </p:pic>
      <p:pic>
        <p:nvPicPr>
          <p:cNvPr id="5" name="Picture 4" descr="tree_fig4_target_spa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69280" cy="41187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Tree-HyperLISTA degrades gracefully under SNR and sparsity mismatch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478A"/>
                </a:solidFill>
                <a:latin typeface="Calibri"/>
              </a:defRPr>
            </a:pPr>
            <a:r>
              <a:t>Ablation: Sensitivity &amp; Mechanisms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ee_fig6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669280" cy="1586527"/>
          </a:xfrm>
          <a:prstGeom prst="rect">
            <a:avLst/>
          </a:prstGeom>
        </p:spPr>
      </p:pic>
      <p:pic>
        <p:nvPicPr>
          <p:cNvPr id="5" name="Picture 4" descr="tree_fig7_mechanis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69280" cy="45233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Sensitivity: broad optimal basin for c2 (momentum); c1 (threshold) most critical</a:t>
            </a:r>
          </a:p>
          <a:p>
            <a:pPr>
              <a:spcAft>
                <a:spcPts val="6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Mechanisms: M1 (hard) and M3 (hybrid) comparable; M2 (threshold) unstable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478A"/>
                </a:solidFill>
                <a:latin typeface="Calibri"/>
              </a:defRPr>
            </a:pPr>
            <a:r>
              <a:t>Wavelet-Domain Image Compressed Sensing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ee_fig9_image_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6858000" cy="2571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Real wavelet coefficients from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8 natural images (Haar DWT)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TH-hybrid achieves: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  • Best SSIM at all CS ratios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  • 31.66 dB PSNR at CS 50%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  • Beats HyperLISTA by 10+ dB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Tree structure in wavelet domain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→ tree-aware proximal outperforms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   elementwise proximal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7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Appendix: Extended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478A"/>
                </a:solidFill>
                <a:latin typeface="Calibri"/>
              </a:defRPr>
            </a:pPr>
            <a:r>
              <a:t>Appendix B: Backbone Ablation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ee_fig_backb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943600" cy="396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6 backbone variants compared: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Tree-ALISTA (32p):       −15.00 dB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Tree-ALISTA-MM (32p):    −17.02 dB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ALISTA-MM-Sym (32p):     +38.80 (diverges!)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TH-Elem (3p, no tree):   −15.75 dB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Tree-HyperLISTA (3p):    −28.66 dB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Key: tree-aware operator is the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critical ingredient, not backbone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complexity or parameter count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478A"/>
                </a:solidFill>
                <a:latin typeface="Calibri"/>
              </a:defRPr>
            </a:pPr>
            <a:r>
              <a:t>Appendix C: Extended Mechanism Ablation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ee_fig_mechanisms_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486400" cy="33762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Differentiable relaxations tested: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Tree Hard (M1):        −3.62 dB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Diff. Ancestor:        −3.12 dB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Gumbel Top-K:          −2.73 dB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Threshold (M2):        −2.73 dB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Hybrid (M3):           −2.73 dB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Non-differentiable hard projection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outperforms smooth relaxations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478A"/>
                </a:solidFill>
                <a:latin typeface="Calibri"/>
              </a:defRPr>
            </a:pPr>
            <a:r>
              <a:t>Appendix D-E: Rho Sensitivity &amp; Sparsity Mismatch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ee_fig_rho_d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029200" cy="3352800"/>
          </a:xfrm>
          <a:prstGeom prst="rect">
            <a:avLst/>
          </a:prstGeom>
        </p:spPr>
      </p:pic>
      <p:pic>
        <p:nvPicPr>
          <p:cNvPr id="5" name="Picture 4" descr="tree_fig_spa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486400" cy="37165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Left: ρ=0.1 and ρ=0.5 give same result — robust to decay choice  |  Right: graceful at sparser; all methods degrade when denser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478A"/>
                </a:solidFill>
                <a:latin typeface="Calibri"/>
              </a:defRPr>
            </a:pPr>
            <a:r>
              <a:t>Appendix F: Extended Mismatch Robustness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ee_fig_mm_magn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760720" cy="3902423"/>
          </a:xfrm>
          <a:prstGeom prst="rect">
            <a:avLst/>
          </a:prstGeom>
        </p:spPr>
      </p:pic>
      <p:pic>
        <p:nvPicPr>
          <p:cNvPr id="5" name="Picture 4" descr="tree_fig_mm_consis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37165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Magnitude scaling: TH robust (−28.7→−28.1 dB at 3×) while HyperLISTA diverges (+85 dB)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Tree consistency: TH degrades from −28.8 to −7.2 dB as tree structure breaks — expected behavior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478A"/>
                </a:solidFill>
                <a:latin typeface="Calibri"/>
              </a:defRPr>
            </a:pPr>
            <a:r>
              <a:t>Appendix G-H: Low-SNR &amp; Superlinear Convergence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ee_fig_low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303520" cy="3535680"/>
          </a:xfrm>
          <a:prstGeom prst="rect">
            <a:avLst/>
          </a:prstGeom>
        </p:spPr>
      </p:pic>
      <p:pic>
        <p:nvPicPr>
          <p:cNvPr id="5" name="Picture 4" descr="tree_fig_superlin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303520" cy="36461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Left: TH maintains advantage at all SNR levels (10/20/30 dB)  |  Right: per-instance tuning → −4.0 dB at only 6 layers (future work)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478A"/>
                </a:solidFill>
                <a:latin typeface="Calibri"/>
              </a:defRPr>
            </a:pPr>
            <a:r>
              <a:t>Appendix I: Cross-Structure Experiments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ee_fig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54864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Train on tree-sparse, test on elementwise: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TH-hybrid on non-tree data: −3.45 dB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TH-hybrid on tree data:     −2.73 dB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Tree-aware method does NOT hurt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performance on non-tree signals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→ Safe to use tree operator even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   when structure is uncertain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478A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" y="123444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Calibri"/>
              </a:defRPr>
            </a:pPr>
            <a:r>
              <a:t>Structure &gt;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600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  <a:latin typeface="Calibri"/>
              </a:defRPr>
            </a:pPr>
            <a:r>
              <a:t>3 params + tree operator beats 1.56M params (LISTA) by 15.5 dB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240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Calibri"/>
              </a:defRPr>
            </a:pPr>
            <a:r>
              <a:t>Minimal Parameterization Generalizes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  <a:latin typeface="Calibri"/>
              </a:defRPr>
            </a:pPr>
            <a:r>
              <a:t>3-parameter principle extends from elementwise to tree-structured sparsity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337559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2918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Calibri"/>
              </a:defRPr>
            </a:pPr>
            <a:r>
              <a:t>Hard Projection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  <a:latin typeface="Calibri"/>
              </a:defRPr>
            </a:pPr>
            <a:r>
              <a:t>Simple greedy top-K tree projection nearly matches hybrid mode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343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Calibri"/>
              </a:defRPr>
            </a:pPr>
            <a:r>
              <a:t>Real-World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  <a:latin typeface="Calibri"/>
              </a:defRPr>
            </a:pPr>
            <a:r>
              <a:t>Best SSIM on wavelet image CS at all compression ratios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5440679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39495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Calibri"/>
              </a:defRPr>
            </a:pPr>
            <a:r>
              <a:t>Robust &amp; 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806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  <a:latin typeface="Calibri"/>
              </a:defRPr>
            </a:pPr>
            <a:r>
              <a:t>Graceful degradation under mismatch; doesn't hurt non-tree signals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7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DFF"/>
                </a:solidFill>
                <a:latin typeface="Calibri"/>
              </a:defRPr>
            </a:pPr>
            <a:r>
              <a:t>Tree-HyperLISTA: 3 parameters, 12.8 dB better than HyperLISTA, perfect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CCFF"/>
                </a:solidFill>
                <a:latin typeface="Calibri"/>
              </a:defRPr>
            </a:pPr>
            <a:r>
              <a:t>Code: github.com/ALPHAGOD12/tree-hyperlista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CCFF"/>
                </a:solidFill>
                <a:latin typeface="Calibri"/>
              </a:defRPr>
            </a:pPr>
            <a:r>
              <a:t>Shresth Verma &amp; Aditya Agrawal  •  IIT Bombay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