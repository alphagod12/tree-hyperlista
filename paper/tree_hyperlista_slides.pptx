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1A478A"/>
                </a:solidFill>
                <a:latin typeface="Calibri Light"/>
              </a:defRPr>
            </a:pPr>
            <a:r>
              <a:t>Tree-HyperLISTA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222222"/>
                </a:solidFill>
                <a:latin typeface="Calibri"/>
              </a:defRPr>
            </a:pPr>
            <a:r>
              <a:t>Ultra-Lightweight Deep Unfolding for Tree-Sparse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66666"/>
                </a:solidFill>
                <a:latin typeface="Calibri"/>
              </a:defRPr>
            </a:pPr>
            <a:r>
              <a:t>Shresth Verma    Aditya Agrawal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66666"/>
                </a:solidFill>
                <a:latin typeface="Calibri"/>
              </a:defRPr>
            </a:pPr>
            <a:r>
              <a:t>Department of CSE, IIT Bombay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478A"/>
                </a:solidFill>
                <a:latin typeface="Calibri"/>
              </a:defRPr>
            </a:pPr>
            <a:r>
              <a:t>Why Tree-Sparse Recovery?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Sparse recovery: reconstruct x from y = Ax + ε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Tree-structured sparsity arises naturally in: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 • Wavelet decompositions of images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 • Hierarchical signal representations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 • Multi-resolution analysis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Key constraint: if a child coefficient is active,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its parent must also be active (tree consistency)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Gap in existing methods: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Classical (ISTA, FISTA): no learning → slow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LISTA (1.56M params): ignores tree structure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HyperLISTA (3 params): elementwise only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→ No method combines tree structure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 with lightweight deep unfolding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478A"/>
                </a:solidFill>
                <a:latin typeface="Calibri"/>
              </a:defRPr>
            </a:pPr>
            <a:r>
              <a:t>Tree-HyperLISTA: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Only 3 learned hyperparameters (c₁, c₂, c₃)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Each unfolded layer performs: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  1. Momentum step:  z = x + β(x − x_prev)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  2. Gradient step:  u = z + Wᵀ(y − Az)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  3. Tree scoring:   sᵢ = |uᵢ| + ρ Σ s_child  (bottom-up)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  4. Support select: S = TopKTree(s, K)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  5. Tree threshold: soft-threshold within S, zero outside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Per-layer β, θ, K derived from (c₁, c₂, c₃)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via adaptive formulas — NOT learned per-layer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Three support selection modes: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M1 — Hard tree projection: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    greedy top-K with ancestor closure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M2 — Threshold + closure: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    threshold then enforce tree consistency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M3 — Hybrid (recommended):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    top-K tree projection + soft threshold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    → best NMSE with lowest variance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478A"/>
                </a:solidFill>
                <a:latin typeface="Calibri"/>
              </a:defRPr>
            </a:pPr>
            <a:r>
              <a:t>Key Innovation: Tree-Aware Proximal Operator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Standard (LISTA/HyperLISTA):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 xᵢ = sign(uᵢ) max(|uᵢ| − θ, 0)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 → treats each coefficient independently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 → ignores tree structure completely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Tree-HyperLISTA: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 1. Score each node using subtree info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 2. Select tree-consistent support 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 3. Threshold only within 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 → exploits parent-child dependencies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 → O(n) via bottom-up aggregation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46304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What makes it "ultra-lightweight":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• Same 3 global hyperparameters as HyperLISTA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• W matrix is precomputed (not learned)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• Tree topology is fixed (not learned)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• ρ decay is fixed at 0.5 (not learned)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The ONLY change vs HyperLISTA is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replacing soft-threshold with tree-aware operator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→ Structure in the operator, not parameters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47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 Light"/>
              </a:defRPr>
            </a:pPr>
            <a:r>
              <a:t>Experimental Results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478A"/>
                </a:solidFill>
                <a:latin typeface="Calibri"/>
              </a:defRPr>
            </a:pPr>
            <a:r>
              <a:t>Core Results: Synthetic Tree-Sparse Recovery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n=255, m=127, K=16 layers, 30 dB SNR, 5 seeds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828800"/>
          <a:ext cx="100584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286000"/>
                <a:gridCol w="1645920"/>
                <a:gridCol w="1645920"/>
                <a:gridCol w="1920240"/>
              </a:tblGrid>
              <a:tr h="496388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A47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NMSE (dB)</a:t>
                      </a:r>
                    </a:p>
                  </a:txBody>
                  <a:tcPr>
                    <a:solidFill>
                      <a:srgbClr val="1A47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1A47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1A47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#Params</a:t>
                      </a:r>
                    </a:p>
                  </a:txBody>
                  <a:tcPr>
                    <a:solidFill>
                      <a:srgbClr val="1A478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Tree-ISTA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−6.00 ± 0.02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0.759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0.734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Tree-FISTA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−8.34 ± 0.02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0.840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0.816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LISTA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−13.18 ± 0.08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0.255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0.997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1.56M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HyperLISTA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−15.91 ± 6.91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0.791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0.967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D8D48"/>
                          </a:solidFill>
                        </a:defRPr>
                      </a:pPr>
                      <a:r>
                        <a:t>TH-Hard (M1)</a:t>
                      </a:r>
                    </a:p>
                  </a:txBody>
                  <a:tcPr>
                    <a:solidFill>
                      <a:srgbClr val="E8F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D8D48"/>
                          </a:solidFill>
                        </a:defRPr>
                      </a:pPr>
                      <a:r>
                        <a:t>−28.80 ± 0.11</a:t>
                      </a:r>
                    </a:p>
                  </a:txBody>
                  <a:tcPr>
                    <a:solidFill>
                      <a:srgbClr val="E8F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D8D48"/>
                          </a:solidFill>
                        </a:defRPr>
                      </a:pPr>
                      <a:r>
                        <a:t>0.740</a:t>
                      </a:r>
                    </a:p>
                  </a:txBody>
                  <a:tcPr>
                    <a:solidFill>
                      <a:srgbClr val="E8F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D8D48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E8F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D8D48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8F8E8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D8D48"/>
                          </a:solidFill>
                        </a:defRPr>
                      </a:pPr>
                      <a:r>
                        <a:t>TH-Hybrid (M3)</a:t>
                      </a:r>
                    </a:p>
                  </a:txBody>
                  <a:tcPr>
                    <a:solidFill>
                      <a:srgbClr val="E8F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D8D48"/>
                          </a:solidFill>
                        </a:defRPr>
                      </a:pPr>
                      <a:r>
                        <a:t>−28.66 ± 0.10</a:t>
                      </a:r>
                    </a:p>
                  </a:txBody>
                  <a:tcPr>
                    <a:solidFill>
                      <a:srgbClr val="E8F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D8D48"/>
                          </a:solidFill>
                        </a:defRPr>
                      </a:pPr>
                      <a:r>
                        <a:t>0.663</a:t>
                      </a:r>
                    </a:p>
                  </a:txBody>
                  <a:tcPr>
                    <a:solidFill>
                      <a:srgbClr val="E8F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D8D48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E8F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D8D48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8F8E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5486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A478A"/>
                </a:solidFill>
                <a:latin typeface="Calibri"/>
              </a:defRPr>
            </a:pPr>
            <a:r>
              <a:t>TH-Hybrid: +12.8 dB over HyperLISTA (same 3 params)  |  +15.5 dB over LISTA (1.56M params)  |  Perfect recall (1.000)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478A"/>
                </a:solidFill>
                <a:latin typeface="Calibri"/>
              </a:defRPr>
            </a:pPr>
            <a:r>
              <a:t>Convergence &amp; Support Recovery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ee_fig1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3822877"/>
          </a:xfrm>
          <a:prstGeom prst="rect">
            <a:avLst/>
          </a:prstGeom>
        </p:spPr>
      </p:pic>
      <p:pic>
        <p:nvPicPr>
          <p:cNvPr id="5" name="Picture 4" descr="tree_fig2_sup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20279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66666"/>
                </a:solidFill>
                <a:latin typeface="Calibri"/>
              </a:defRPr>
            </a:pPr>
            <a:r>
              <a:t>Tree-HyperLISTA converges to −28.66 dB in 16 layers with perfect support recall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478A"/>
                </a:solidFill>
                <a:latin typeface="Calibri"/>
              </a:defRPr>
            </a:pPr>
            <a:r>
              <a:t>Robustness: Mismatch Experiments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ee_fig3_snr_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4108324"/>
          </a:xfrm>
          <a:prstGeom prst="rect">
            <a:avLst/>
          </a:prstGeom>
        </p:spPr>
      </p:pic>
      <p:pic>
        <p:nvPicPr>
          <p:cNvPr id="5" name="Picture 4" descr="tree_fig4_target_spars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41187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66666"/>
                </a:solidFill>
                <a:latin typeface="Calibri"/>
              </a:defRPr>
            </a:pPr>
            <a:r>
              <a:t>Tree-HyperLISTA degrades gracefully under SNR variation and sparsity mismatch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478A"/>
                </a:solidFill>
                <a:latin typeface="Calibri"/>
              </a:defRPr>
            </a:pPr>
            <a:r>
              <a:t>Ablation: Sensitivity &amp; Mechanisms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ee_fig6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1586527"/>
          </a:xfrm>
          <a:prstGeom prst="rect">
            <a:avLst/>
          </a:prstGeom>
        </p:spPr>
      </p:pic>
      <p:pic>
        <p:nvPicPr>
          <p:cNvPr id="5" name="Picture 4" descr="tree_fig7_mechanis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45233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Sensitivity: broad optimal basin for c₂ (momentum); c₁ (threshold) most critical</a:t>
            </a:r>
          </a:p>
          <a:p>
            <a:pPr>
              <a:spcAft>
                <a:spcPts val="6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Mechanisms: M1 (hard) and M3 (hybrid) perform comparably; M2 (threshold) unstable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478A"/>
                </a:solidFill>
                <a:latin typeface="Calibri"/>
              </a:defRPr>
            </a:pPr>
            <a:r>
              <a:t>Wavelet-Domain Image Compressed Sensing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ee_fig9_image_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6858000" cy="25717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Real wavelet coefficients from</a:t>
            </a:r>
          </a:p>
          <a:p>
            <a:pPr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8 natural images (Haar DWT)</a:t>
            </a:r>
          </a:p>
          <a:p>
            <a:pPr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TH-hybrid achieves:</a:t>
            </a:r>
          </a:p>
          <a:p>
            <a:pPr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  • Best SSIM at all CS ratios</a:t>
            </a:r>
          </a:p>
          <a:p>
            <a:pPr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  • 31.66 dB at CS 50%</a:t>
            </a:r>
          </a:p>
          <a:p>
            <a:pPr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  • Beats SH-topk (block) at all ratios</a:t>
            </a:r>
          </a:p>
          <a:p>
            <a:pPr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Tree structure in wavelet domain</a:t>
            </a:r>
          </a:p>
          <a:p>
            <a:pPr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→ tree-aware proximal outperforms</a:t>
            </a:r>
          </a:p>
          <a:p>
            <a:pPr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   block-aware proximal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478A"/>
                </a:solidFill>
                <a:latin typeface="Calibri"/>
              </a:defRPr>
            </a:pPr>
            <a:r>
              <a:t>Backbone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ee_fig_backb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943600" cy="3962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146304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Compared 6 backbone variants: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Tree-ALISTA (32p):       −15.00 dB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Tree-ALISTA-MM (32p):    −17.02 dB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TH-Elem (3p, no tree):  −15.75 dB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Tree-HyperLISTA (3p):   −28.66 dB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Key insight: tree-aware operator is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the critical ingredient, not backbone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complexity or parameter count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478A"/>
                </a:solidFill>
                <a:latin typeface="Calibri"/>
              </a:defRPr>
            </a:pPr>
            <a:r>
              <a:t>Extended Robustness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ee_fig_mm_magn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760720" cy="3902423"/>
          </a:xfrm>
          <a:prstGeom prst="rect">
            <a:avLst/>
          </a:prstGeom>
        </p:spPr>
      </p:pic>
      <p:pic>
        <p:nvPicPr>
          <p:cNvPr id="5" name="Picture 4" descr="tree_fig_mm_consist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486400" cy="37165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666666"/>
                </a:solidFill>
                <a:latin typeface="Calibri"/>
              </a:defRPr>
            </a:pPr>
            <a:r>
              <a:t>Robust to magnitude scaling (−28.7→−28.1 dB at 3×)  |  Graceful degradation as tree consistency decreases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A478A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3" name="Oval 2"/>
          <p:cNvSpPr/>
          <p:nvPr/>
        </p:nvSpPr>
        <p:spPr>
          <a:xfrm>
            <a:off x="1097280" y="1417320"/>
            <a:ext cx="548640" cy="54864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22222"/>
                </a:solidFill>
                <a:latin typeface="Calibri"/>
              </a:defRPr>
            </a:pPr>
            <a:r>
              <a:t>Structure &gt;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828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3 params with tree-aware operator beats 1.56M params (LISTA) by 15.5 dB</a:t>
            </a:r>
          </a:p>
        </p:txBody>
      </p:sp>
      <p:sp>
        <p:nvSpPr>
          <p:cNvPr id="6" name="Oval 5"/>
          <p:cNvSpPr/>
          <p:nvPr/>
        </p:nvSpPr>
        <p:spPr>
          <a:xfrm>
            <a:off x="1097280" y="2697479"/>
            <a:ext cx="548640" cy="54864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22222"/>
                </a:solidFill>
                <a:latin typeface="Calibri"/>
              </a:defRPr>
            </a:pPr>
            <a:r>
              <a:t>Minimal Parameterization Generalizes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1089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The 3-parameter principle extends from block to tree-structured sparsity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3977639"/>
            <a:ext cx="548640" cy="54864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931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22222"/>
                </a:solidFill>
                <a:latin typeface="Calibri"/>
              </a:defRPr>
            </a:pPr>
            <a:r>
              <a:t>Hard Projection 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4389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Simple greedy top-K tree projection nearly matches the hybrid mode</a:t>
            </a:r>
          </a:p>
        </p:txBody>
      </p:sp>
      <p:sp>
        <p:nvSpPr>
          <p:cNvPr id="12" name="Oval 11"/>
          <p:cNvSpPr/>
          <p:nvPr/>
        </p:nvSpPr>
        <p:spPr>
          <a:xfrm>
            <a:off x="1097280" y="5257799"/>
            <a:ext cx="548640" cy="54864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21207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22222"/>
                </a:solidFill>
                <a:latin typeface="Calibri"/>
              </a:defRPr>
            </a:pPr>
            <a:r>
              <a:t>Real-World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66927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Best SSIM on wavelet image CS at all compression ratios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47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 Light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BDDFF"/>
                </a:solidFill>
                <a:latin typeface="Calibri"/>
              </a:defRPr>
            </a:pPr>
            <a:r>
              <a:t>Tree-HyperLISTA: 3 parameters, 12.8 dB better than HyperLISTA, perfect recall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9CCFF"/>
                </a:solidFill>
                <a:latin typeface="Calibri"/>
              </a:defRPr>
            </a:pPr>
            <a:r>
              <a:t>Code: github.com/ALPHAGOD12/tree-hyperlista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9CCFF"/>
                </a:solidFill>
                <a:latin typeface="Calibri"/>
              </a:defRPr>
            </a:pPr>
            <a:r>
              <a:t>Shresth Verma &amp; Aditya Agrawal  •  IIT Bombay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