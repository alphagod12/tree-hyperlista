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A478A"/>
                </a:solidFill>
                <a:latin typeface="Calibri Light"/>
              </a:defRPr>
            </a:pPr>
            <a:r>
              <a:t>Tree-HyperLISTA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22222"/>
                </a:solidFill>
                <a:latin typeface="Calibri"/>
              </a:defRPr>
            </a:pPr>
            <a:r>
              <a:t>Ultra-Lightweight Deep Unfolding for Tree-Sparse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6666"/>
                </a:solidFill>
                <a:latin typeface="Calibri"/>
              </a:defRPr>
            </a:pPr>
            <a:r>
              <a:t>Shresth Verma    Aditya Agrawal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Department of CSE, IIT Bombay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Why Tree-Sparse Recovery?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Sparse recovery: reconstruct x from y = Ax + ε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Tree-structured sparsity arises naturally in: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• Wavelet decompositions of images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• Hierarchical signal representations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• Multi-resolution analysis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Key constraint: if a child coefficient is active,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its parent must also be active (tree consistency)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Gap in existing methods: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Classical (ISTA, FISTA): no learning → slow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LISTA (1.56M params): ignores tree structure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HyperLISTA (3 params): elementwise only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→ No method combines tree structure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with lightweight deep unfolding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Tree-HyperLISTA: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Only 3 learned hyperparameters (c₁, c₂, c₃)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Each unfolded layer performs: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1. Momentum step:  z = x + β(x − x_prev)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2. Gradient step:  u = z + Wᵀ(y − Az)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3. Tree scoring:   sᵢ = |uᵢ| + ρ Σ s_child  (bottom-up)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4. Support select: S = TopKTree(s, K)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5. Tree threshold: soft-threshold within S, zero outside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Per-layer β, θ, K derived from (c₁, c₂, c₃)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via adaptive formulas — NOT learned per-layer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Three support selection modes: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M1 — Hard tree projection: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  greedy top-K with ancestor closure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M2 — Threshold + closure: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  threshold then enforce tree consistency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M3 — Hybrid (recommended):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  top-K tree projection + soft threshold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    → best NMSE with lowest variance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Key Innovation: Tree-Aware Proximal Operator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Standard (LISTA/HyperLISTA):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xᵢ = sign(uᵢ) max(|uᵢ| − θ, 0)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→ treats each coefficient independently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→ ignores tree structure completely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Tree-HyperLISTA: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1. Score each node using subtree info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2. Select tree-consistent support 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3. Threshold only within 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→ exploits parent-child dependencies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 → O(n) via bottom-up aggregation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4630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What makes it "ultra-lightweight":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Same 3 global hyperparameters as HyperLISTA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W matrix is precomputed (not learned)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Tree topology is fixed (not learned)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ρ decay is fixed at 0.5 (not learned)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The ONLY change vs HyperLISTA is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replacing soft-threshold with tree-aware operator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→ Structure in the operator, not parameters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47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 Light"/>
              </a:defRPr>
            </a:pPr>
            <a:r>
              <a:t>Experimental Results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Core Results: Synthetic Tree-Sparse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n=255, m=127, K=16 layers, 30 dB SNR, 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828800"/>
          <a:ext cx="10058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1645920"/>
                <a:gridCol w="1645920"/>
                <a:gridCol w="1920240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NMSE (dB)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#Params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Tree-ISTA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−6.00 ± 0.02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0.759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0.734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Tree-FISTA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−8.34 ± 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LISTA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−13.18 ± 0.08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0.255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0.997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1.56M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HyperLISTA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−15.91 ± 6.91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0.967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TH-Hard (M1)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−28.80 ± 0.11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0.740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TH-Hybrid (M3)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−28.66 ± 0.10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0.663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D8D48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8F8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486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478A"/>
                </a:solidFill>
                <a:latin typeface="Calibri"/>
              </a:defRPr>
            </a:pPr>
            <a:r>
              <a:t>TH-Hybrid: +12.8 dB over HyperLISTA (same 3 params)  |  +15.5 dB over LISTA (1.56M params)  |  Perfect recall (1.000)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Convergence &amp; Support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1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822877"/>
          </a:xfrm>
          <a:prstGeom prst="rect">
            <a:avLst/>
          </a:prstGeom>
        </p:spPr>
      </p:pic>
      <p:pic>
        <p:nvPicPr>
          <p:cNvPr id="5" name="Picture 4" descr="tree_fig2_sup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20279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Tree-HyperLISTA converges to −28.66 dB in 16 layers with perfect support recall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Robustness: Mismatch 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3_snr_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4108324"/>
          </a:xfrm>
          <a:prstGeom prst="rect">
            <a:avLst/>
          </a:prstGeom>
        </p:spPr>
      </p:pic>
      <p:pic>
        <p:nvPicPr>
          <p:cNvPr id="5" name="Picture 4" descr="tree_fig4_target_spar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41187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Tree-HyperLISTA degrades gracefully under SNR variation and sparsity mismatch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Ablation: Sensitivity &amp; Mechanisms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6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1586527"/>
          </a:xfrm>
          <a:prstGeom prst="rect">
            <a:avLst/>
          </a:prstGeom>
        </p:spPr>
      </p:pic>
      <p:pic>
        <p:nvPicPr>
          <p:cNvPr id="5" name="Picture 4" descr="tree_fig7_mechanis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45233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Sensitivity: broad optimal basin for c₂ (momentum); c₁ (threshold) most critical</a:t>
            </a:r>
          </a:p>
          <a:p>
            <a:pPr>
              <a:spcAft>
                <a:spcPts val="6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Mechanisms: M1 (hard) and M3 (hybrid) perform comparably; M2 (threshold) unstable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Wavelet-Domain Image Compressed Sensing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9_image_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858000" cy="2571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Real wavelet coefficients from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8 natural images (Haar DWT)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TH-hybrid achieves: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  • Best SSIM at all CS ratios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  • 31.66 dB at CS 50%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  • Beats HyperLISTA (3p) by 10+ dB at 50%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Tree structure in wavelet domain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→ tree-aware proximal outperforms</a:t>
            </a:r>
          </a:p>
          <a:p>
            <a:pPr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   elementwise proximal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Backbone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_backb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962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4630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Compared 6 backbone variants: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Tree-ALISTA (32p):       −15.00 dB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Tree-ALISTA-MM (32p):    −17.02 dB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TH-Elem (3p, no tree):  −15.75 dB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Tree-HyperLISTA (3p):   −28.66 dB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Key insight: tree-aware operator is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the critical ingredient, not backbone</a:t>
            </a:r>
          </a:p>
          <a:p>
            <a:pPr>
              <a:spcAft>
                <a:spcPts val="6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complexity or parameter count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478A"/>
                </a:solidFill>
                <a:latin typeface="Calibri"/>
              </a:defRPr>
            </a:pPr>
            <a:r>
              <a:t>Extended Robustness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e_fig_mm_magn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3902423"/>
          </a:xfrm>
          <a:prstGeom prst="rect">
            <a:avLst/>
          </a:prstGeom>
        </p:spPr>
      </p:pic>
      <p:pic>
        <p:nvPicPr>
          <p:cNvPr id="5" name="Picture 4" descr="tree_fig_mm_consis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37165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666666"/>
                </a:solidFill>
                <a:latin typeface="Calibri"/>
              </a:defRPr>
            </a:pPr>
            <a:r>
              <a:t>Robust to magnitude scaling (−28.7→−28.1 dB at 3×)  |  Graceful degradation as tree consistency decreases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478A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Oval 2"/>
          <p:cNvSpPr/>
          <p:nvPr/>
        </p:nvSpPr>
        <p:spPr>
          <a:xfrm>
            <a:off x="1097280" y="141732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22222"/>
                </a:solidFill>
                <a:latin typeface="Calibri"/>
              </a:defRPr>
            </a:pPr>
            <a:r>
              <a:t>Structure &gt;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828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3 params with tree-aware operator beats 1.56M params (LISTA) by 15.5 dB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2697479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22222"/>
                </a:solidFill>
                <a:latin typeface="Calibri"/>
              </a:defRPr>
            </a:pPr>
            <a:r>
              <a:t>Minimal Parameterization Generalizes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The 3-parameter principle extends from elementwise to tree-structured sparsity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3977639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22222"/>
                </a:solidFill>
                <a:latin typeface="Calibri"/>
              </a:defRPr>
            </a:pPr>
            <a:r>
              <a:t>Hard Projection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Simple greedy top-K tree projection nearly matches the hybrid mode</a:t>
            </a:r>
          </a:p>
        </p:txBody>
      </p:sp>
      <p:sp>
        <p:nvSpPr>
          <p:cNvPr id="12" name="Oval 11"/>
          <p:cNvSpPr/>
          <p:nvPr/>
        </p:nvSpPr>
        <p:spPr>
          <a:xfrm>
            <a:off x="1097280" y="5257799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21207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22222"/>
                </a:solidFill>
                <a:latin typeface="Calibri"/>
              </a:defRPr>
            </a:pPr>
            <a:r>
              <a:t>Real-World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66927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Best SSIM on wavelet image CS at all compression ratios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47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 Light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DDFF"/>
                </a:solidFill>
                <a:latin typeface="Calibri"/>
              </a:defRPr>
            </a:pPr>
            <a:r>
              <a:t>Tree-HyperLISTA: 3 parameters, 12.8 dB better than HyperLISTA, perfect recall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CCFF"/>
                </a:solidFill>
                <a:latin typeface="Calibri"/>
              </a:defRPr>
            </a:pPr>
            <a:r>
              <a:t>Code: github.com/ALPHAGOD12/tree-hyperlista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CCFF"/>
                </a:solidFill>
                <a:latin typeface="Calibri"/>
              </a:defRPr>
            </a:pPr>
            <a:r>
              <a:t>Shresth Verma &amp; Aditya Agrawal  •  IIT Bombay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